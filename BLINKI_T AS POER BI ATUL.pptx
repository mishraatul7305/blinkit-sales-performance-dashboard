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0" r:id="rId5"/>
    <p:sldId id="259" r:id="rId6"/>
    <p:sldId id="267" r:id="rId7"/>
    <p:sldId id="260" r:id="rId8"/>
    <p:sldId id="272" r:id="rId9"/>
    <p:sldId id="269" r:id="rId10"/>
    <p:sldId id="261" r:id="rId11"/>
    <p:sldId id="268" r:id="rId12"/>
    <p:sldId id="262" r:id="rId13"/>
    <p:sldId id="266" r:id="rId14"/>
    <p:sldId id="263" r:id="rId15"/>
    <p:sldId id="271" r:id="rId16"/>
    <p:sldId id="264" r:id="rId17"/>
    <p:sldId id="26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46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UL MISHRA" userId="7cd995c207cc28c7" providerId="LiveId" clId="{2C99E473-765D-486C-A690-703B9B493597}"/>
    <pc:docChg chg="addSld delSld modSld sldOrd">
      <pc:chgData name="ATUL MISHRA" userId="7cd995c207cc28c7" providerId="LiveId" clId="{2C99E473-765D-486C-A690-703B9B493597}" dt="2026-10-12T07:27:48.063" v="11" actId="931"/>
      <pc:docMkLst>
        <pc:docMk/>
      </pc:docMkLst>
      <pc:sldChg chg="addSp modSp new del mod ord">
        <pc:chgData name="ATUL MISHRA" userId="7cd995c207cc28c7" providerId="LiveId" clId="{2C99E473-765D-486C-A690-703B9B493597}" dt="2026-10-12T07:27:33.268" v="9" actId="2696"/>
        <pc:sldMkLst>
          <pc:docMk/>
          <pc:sldMk cId="1402246389" sldId="272"/>
        </pc:sldMkLst>
        <pc:picChg chg="add mod">
          <ac:chgData name="ATUL MISHRA" userId="7cd995c207cc28c7" providerId="LiveId" clId="{2C99E473-765D-486C-A690-703B9B493597}" dt="2026-10-12T07:27:22.295" v="8" actId="14100"/>
          <ac:picMkLst>
            <pc:docMk/>
            <pc:sldMk cId="1402246389" sldId="272"/>
            <ac:picMk id="3" creationId="{9E34DBE1-4724-541B-866D-037E5CBF35F4}"/>
          </ac:picMkLst>
        </pc:picChg>
      </pc:sldChg>
      <pc:sldChg chg="addSp modSp new mod">
        <pc:chgData name="ATUL MISHRA" userId="7cd995c207cc28c7" providerId="LiveId" clId="{2C99E473-765D-486C-A690-703B9B493597}" dt="2026-10-12T07:27:48.063" v="11" actId="931"/>
        <pc:sldMkLst>
          <pc:docMk/>
          <pc:sldMk cId="2309577757" sldId="272"/>
        </pc:sldMkLst>
        <pc:picChg chg="add mod">
          <ac:chgData name="ATUL MISHRA" userId="7cd995c207cc28c7" providerId="LiveId" clId="{2C99E473-765D-486C-A690-703B9B493597}" dt="2026-10-12T07:27:48.063" v="11" actId="931"/>
          <ac:picMkLst>
            <pc:docMk/>
            <pc:sldMk cId="2309577757" sldId="272"/>
            <ac:picMk id="3" creationId="{D90DA46C-4016-DB47-338C-BA1A567CEFE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664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m.goel.edu.in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F222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5156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work/gitm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115568"/>
            <a:ext cx="740664" cy="740664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1155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GOEL INSTITUTE OF TECHNOLOGY &amp; MANAGEMENT, LUCKNOW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INTRODUCTION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Atul Mishra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Engineering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49808" y="4160520"/>
            <a:ext cx="731520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4315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2403600109007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3813048" y="4315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813048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Engineering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6876288" y="4315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876288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endParaRPr lang="en-US" sz="1450" dirty="0"/>
          </a:p>
        </p:txBody>
      </p:sp>
      <p:sp>
        <p:nvSpPr>
          <p:cNvPr id="17" name="Text 14">
            <a:hlinkClick r:id="rId4"/>
          </p:cNvPr>
          <p:cNvSpPr txBox="1"/>
          <p:nvPr/>
        </p:nvSpPr>
        <p:spPr>
          <a:xfrm>
            <a:off x="749808" y="619963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Goel Institute of Technology &amp; Management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61996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  ·  Power BI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Person Behind the Project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017520" cy="4206240"/>
          </a:xfrm>
          <a:prstGeom prst="roundRect">
            <a:avLst>
              <a:gd name="adj" fmla="val 3636"/>
            </a:avLst>
          </a:prstGeom>
          <a:solidFill>
            <a:srgbClr val="1F2226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2103120"/>
            <a:ext cx="1188720" cy="118872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8760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29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Atul Mishra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80390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330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Engineering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4590288"/>
            <a:ext cx="173736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7091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Goel Institute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Management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349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2403600109007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77640" y="1783080"/>
            <a:ext cx="566928" cy="56692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77640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7556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0574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&amp; data analysis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77640" y="2606040"/>
            <a:ext cx="566928" cy="56692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77640" y="2606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57860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880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forecasting techniques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977640" y="3429000"/>
            <a:ext cx="566928" cy="56692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977640" y="3429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40156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(n8n)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7033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data pipelines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977640" y="4251960"/>
            <a:ext cx="566928" cy="56692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977640" y="4251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22452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45262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&amp; structuring data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977640" y="5074920"/>
            <a:ext cx="566928" cy="56692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977640" y="5074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504748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53492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reporting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Dashboard?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1F22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an interactive Power BI dashboard that turns raw retail sales records into clear, actionable insights — styled around Blinkit's quick-commerce identity to make the analytics feel product-ready.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4023360"/>
            <a:ext cx="484632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160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26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→ modeling → KPI design → visual storytelling → interactive filtering, delivered as a single-page executive dashboard.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737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overall sales, profit and order volume at a glance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2807208"/>
            <a:ext cx="457200" cy="45720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276148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return patterns by category and payment mode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3831336"/>
            <a:ext cx="457200" cy="45720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785616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across regions and product lines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4855464"/>
            <a:ext cx="457200" cy="45720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809744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viewers filter by quarter and metric interactively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849EB994-D91D-5385-D588-7F5B9E050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28887"/>
            <a:ext cx="5372100" cy="25527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4B04F06B-9669-00FB-963B-EC5F5CF5A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528887"/>
            <a:ext cx="5372100" cy="2552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CDB611-7BFD-3E90-90AF-221D1EE065D3}"/>
              </a:ext>
            </a:extLst>
          </p:cNvPr>
          <p:cNvSpPr txBox="1"/>
          <p:nvPr/>
        </p:nvSpPr>
        <p:spPr>
          <a:xfrm>
            <a:off x="923925" y="2881312"/>
            <a:ext cx="49006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Poppins"/>
              </a:rPr>
              <a:t>Background &amp; Problem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8EDAA6-D803-6653-C5B1-14E59776DFF2}"/>
              </a:ext>
            </a:extLst>
          </p:cNvPr>
          <p:cNvSpPr txBox="1"/>
          <p:nvPr/>
        </p:nvSpPr>
        <p:spPr>
          <a:xfrm>
            <a:off x="923925" y="3328987"/>
            <a:ext cx="466725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Quick-commerce platforms handle massive transaction volumes daily. Analyzing sales performance across different outlet locations, payment modes, and item categories is vital for optimizing logistics and stock distribution.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90A8AC-2D99-74DD-F479-050122BFACE5}"/>
              </a:ext>
            </a:extLst>
          </p:cNvPr>
          <p:cNvSpPr txBox="1"/>
          <p:nvPr/>
        </p:nvSpPr>
        <p:spPr>
          <a:xfrm>
            <a:off x="6600825" y="2881312"/>
            <a:ext cx="49006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Poppins"/>
              </a:rPr>
              <a:t>Key Analytical Objectives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84186-F2B2-EDC1-A4C1-618E73BD2471}"/>
              </a:ext>
            </a:extLst>
          </p:cNvPr>
          <p:cNvSpPr txBox="1"/>
          <p:nvPr/>
        </p:nvSpPr>
        <p:spPr>
          <a:xfrm>
            <a:off x="6600825" y="3328987"/>
            <a:ext cx="46672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Build an interactive Power BI dashboard featuring dynamic KPI cards, location performance curves, payment mode breakdowns, and item-level category filters to empower data-driven decisions.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F442F4-8471-7462-7224-68A4BC65F5B2}"/>
              </a:ext>
            </a:extLst>
          </p:cNvPr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Project Overview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985719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Preparation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sales dataset (order, product, region and shipping details) was cleaned and modeled, then visualized on a Blinkit-branded report canvas.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F22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2860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22860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F22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22860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F22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2860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15400" y="228600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F22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0" y="22860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27832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F222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2278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3227832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F22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74720" y="32278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3227832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F22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32278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15400" y="3227832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F222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52560" y="32278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169664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F222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169664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37560" y="4169664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F222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0" y="4169664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Date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4169664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F222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63640" y="4169664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/ Row ID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915400" y="4169664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1F222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052560" y="4169664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No. of Sales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pipeline:  Excel (cleaning)  →  SQL (structuring &amp; queries)  →  Power BI (modeling &amp; visuals)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E6FF31-AEDE-CBDB-DB9D-9EE61CF57763}"/>
              </a:ext>
            </a:extLst>
          </p:cNvPr>
          <p:cNvSpPr/>
          <p:nvPr/>
        </p:nvSpPr>
        <p:spPr>
          <a:xfrm>
            <a:off x="571500" y="37861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3C021-7714-3827-FC7B-C085D7150B68}"/>
              </a:ext>
            </a:extLst>
          </p:cNvPr>
          <p:cNvSpPr txBox="1"/>
          <p:nvPr/>
        </p:nvSpPr>
        <p:spPr>
          <a:xfrm>
            <a:off x="507968" y="4033837"/>
            <a:ext cx="26683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D97706"/>
                </a:solidFill>
                <a:latin typeface="Poppins"/>
              </a:rPr>
              <a:t>Week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C54EC-FCEF-783F-A704-1E671D50F3A3}"/>
              </a:ext>
            </a:extLst>
          </p:cNvPr>
          <p:cNvSpPr txBox="1"/>
          <p:nvPr/>
        </p:nvSpPr>
        <p:spPr>
          <a:xfrm>
            <a:off x="571500" y="4395787"/>
            <a:ext cx="254124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Dataset acquisition, data cleaning, and Power Query transformation.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6EB6E1-9F4C-1B34-CB5D-4953ACAF1D7E}"/>
              </a:ext>
            </a:extLst>
          </p:cNvPr>
          <p:cNvSpPr txBox="1"/>
          <p:nvPr/>
        </p:nvSpPr>
        <p:spPr>
          <a:xfrm>
            <a:off x="3343888" y="2586037"/>
            <a:ext cx="26683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D97706"/>
                </a:solidFill>
                <a:latin typeface="Poppins"/>
              </a:rPr>
              <a:t>Week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B08AA3-F189-82F7-4FA9-790D1DDA5DE0}"/>
              </a:ext>
            </a:extLst>
          </p:cNvPr>
          <p:cNvSpPr txBox="1"/>
          <p:nvPr/>
        </p:nvSpPr>
        <p:spPr>
          <a:xfrm>
            <a:off x="3407419" y="2947987"/>
            <a:ext cx="254124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Schema modeling and DAX measures for KPI metrics.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E23BD6-3D12-FDA1-A6DA-C7CEF879CC79}"/>
              </a:ext>
            </a:extLst>
          </p:cNvPr>
          <p:cNvSpPr txBox="1"/>
          <p:nvPr/>
        </p:nvSpPr>
        <p:spPr>
          <a:xfrm>
            <a:off x="6179808" y="4033837"/>
            <a:ext cx="26683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D97706"/>
                </a:solidFill>
                <a:latin typeface="Poppins"/>
              </a:rPr>
              <a:t>Week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0D468-B4AF-CBA9-07D4-D5D039993E58}"/>
              </a:ext>
            </a:extLst>
          </p:cNvPr>
          <p:cNvSpPr txBox="1"/>
          <p:nvPr/>
        </p:nvSpPr>
        <p:spPr>
          <a:xfrm>
            <a:off x="6243339" y="4395787"/>
            <a:ext cx="254124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Dashboard UI/UX design, visual charts, and interactive slicers.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5D6270-5F6F-D304-1504-A7ECCA9AC9C3}"/>
              </a:ext>
            </a:extLst>
          </p:cNvPr>
          <p:cNvSpPr txBox="1"/>
          <p:nvPr/>
        </p:nvSpPr>
        <p:spPr>
          <a:xfrm>
            <a:off x="9015728" y="2328862"/>
            <a:ext cx="266830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D97706"/>
                </a:solidFill>
                <a:latin typeface="Poppins"/>
              </a:rPr>
              <a:t>Week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C5DD85-B32F-5C73-6FE9-182DDCBA01C0}"/>
              </a:ext>
            </a:extLst>
          </p:cNvPr>
          <p:cNvSpPr txBox="1"/>
          <p:nvPr/>
        </p:nvSpPr>
        <p:spPr>
          <a:xfrm>
            <a:off x="9079259" y="2690812"/>
            <a:ext cx="254124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Insights extraction, report validation, and presentation compilation.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9ADAFB-132B-03A0-F6D0-DA015724ECBC}"/>
              </a:ext>
            </a:extLst>
          </p:cNvPr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Internship Project Timeline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E375C01F-F5FB-566C-A3C7-D8668EF597DD}"/>
              </a:ext>
            </a:extLst>
          </p:cNvPr>
          <p:cNvSpPr/>
          <p:nvPr/>
        </p:nvSpPr>
        <p:spPr>
          <a:xfrm>
            <a:off x="1746870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12">
            <a:extLst>
              <a:ext uri="{FF2B5EF4-FFF2-40B4-BE49-F238E27FC236}">
                <a16:creationId xmlns:a16="http://schemas.microsoft.com/office/drawing/2014/main" id="{E72183BE-91E8-D8B7-2ADB-F5F6A7EDABCB}"/>
              </a:ext>
            </a:extLst>
          </p:cNvPr>
          <p:cNvSpPr/>
          <p:nvPr/>
        </p:nvSpPr>
        <p:spPr>
          <a:xfrm>
            <a:off x="4582790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7CAB9969-3CB3-2047-0625-E5050D3D2ED1}"/>
              </a:ext>
            </a:extLst>
          </p:cNvPr>
          <p:cNvSpPr/>
          <p:nvPr/>
        </p:nvSpPr>
        <p:spPr>
          <a:xfrm>
            <a:off x="7418709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245C78E0-0596-13B1-99B9-07128FF79A4E}"/>
              </a:ext>
            </a:extLst>
          </p:cNvPr>
          <p:cNvSpPr/>
          <p:nvPr/>
        </p:nvSpPr>
        <p:spPr>
          <a:xfrm>
            <a:off x="10254629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8076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KPI Layer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headline cards plus a gauge give viewers the top-line picture in the first three seconds.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F222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48840"/>
            <a:ext cx="2514600" cy="73152"/>
          </a:xfrm>
          <a:prstGeom prst="rect">
            <a:avLst/>
          </a:prstGeom>
          <a:solidFill>
            <a:srgbClr val="F8CB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17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order value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72968" y="21488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F2226"/>
          </a:solidFill>
          <a:ln/>
        </p:spPr>
      </p:sp>
      <p:sp>
        <p:nvSpPr>
          <p:cNvPr id="11" name="Shape 9"/>
          <p:cNvSpPr/>
          <p:nvPr/>
        </p:nvSpPr>
        <p:spPr>
          <a:xfrm>
            <a:off x="3172968" y="2148840"/>
            <a:ext cx="2514600" cy="73152"/>
          </a:xfrm>
          <a:prstGeom prst="rect">
            <a:avLst/>
          </a:prstGeom>
          <a:solidFill>
            <a:srgbClr val="F8CB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55848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3017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 generated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97296" y="21488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F2226"/>
          </a:solidFill>
          <a:ln/>
        </p:spPr>
      </p:sp>
      <p:sp>
        <p:nvSpPr>
          <p:cNvPr id="15" name="Shape 13"/>
          <p:cNvSpPr/>
          <p:nvPr/>
        </p:nvSpPr>
        <p:spPr>
          <a:xfrm>
            <a:off x="5797296" y="2148840"/>
            <a:ext cx="2514600" cy="73152"/>
          </a:xfrm>
          <a:prstGeom prst="rect">
            <a:avLst/>
          </a:prstGeom>
          <a:solidFill>
            <a:srgbClr val="F8CB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80176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80176" y="3017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21624" y="21488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F2226"/>
          </a:solidFill>
          <a:ln/>
        </p:spPr>
      </p:sp>
      <p:sp>
        <p:nvSpPr>
          <p:cNvPr id="19" name="Shape 17"/>
          <p:cNvSpPr/>
          <p:nvPr/>
        </p:nvSpPr>
        <p:spPr>
          <a:xfrm>
            <a:off x="8421624" y="2148840"/>
            <a:ext cx="2514600" cy="73152"/>
          </a:xfrm>
          <a:prstGeom prst="rect">
            <a:avLst/>
          </a:prstGeom>
          <a:solidFill>
            <a:srgbClr val="F8CB4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04504" y="2468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604504" y="3017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Row ID count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0744200" cy="1600200"/>
          </a:xfrm>
          <a:prstGeom prst="roundRect">
            <a:avLst>
              <a:gd name="adj" fmla="val 5714"/>
            </a:avLst>
          </a:prstGeom>
          <a:solidFill>
            <a:srgbClr val="24272C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4663440"/>
            <a:ext cx="914400" cy="91440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663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4617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— Total No. of Sales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011680" y="498348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overall sales progress against target at a glance, sitting beside the KPI cards for instant context.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0DA46C-4016-DB47-338C-BA1A567CE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40" y="509180"/>
            <a:ext cx="10536120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77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8847B2-DF97-CF27-443A-7BD3013B73B5}"/>
              </a:ext>
            </a:extLst>
          </p:cNvPr>
          <p:cNvGraphicFramePr>
            <a:graphicFrameLocks noGrp="1"/>
          </p:cNvGraphicFramePr>
          <p:nvPr/>
        </p:nvGraphicFramePr>
        <p:xfrm>
          <a:off x="571500" y="2090737"/>
          <a:ext cx="110489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2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47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oppins"/>
                        </a:rPr>
                        <a:t>Outlet Location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oppins"/>
                        </a:rPr>
                        <a:t>Sales Volume ($)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oppins"/>
                        </a:rPr>
                        <a:t>Revenue Share (%)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oppins"/>
                        </a:rPr>
                        <a:t>Dominant Payment 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West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78.00K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28.9%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Cash on Delivery / Online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Central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78.00K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28.9%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Online Payment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East 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59.00K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21.9%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Cash on Delivery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West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15.00K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5.6%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Online Payment / Cards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Central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3.00K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Inter"/>
                        </a:rPr>
                        <a:t>1.1%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Cash on Delivery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3E449B6-6A33-274A-CC8C-42B068F0741B}"/>
              </a:ext>
            </a:extLst>
          </p:cNvPr>
          <p:cNvSpPr/>
          <p:nvPr/>
        </p:nvSpPr>
        <p:spPr>
          <a:xfrm>
            <a:off x="571500" y="2647950"/>
            <a:ext cx="2245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43F7E7-6627-DCE0-794B-0E4F698F8853}"/>
              </a:ext>
            </a:extLst>
          </p:cNvPr>
          <p:cNvSpPr/>
          <p:nvPr/>
        </p:nvSpPr>
        <p:spPr>
          <a:xfrm>
            <a:off x="2817465" y="2647950"/>
            <a:ext cx="2463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874158-6631-C7A8-5FA0-926112E9DDE1}"/>
              </a:ext>
            </a:extLst>
          </p:cNvPr>
          <p:cNvSpPr/>
          <p:nvPr/>
        </p:nvSpPr>
        <p:spPr>
          <a:xfrm>
            <a:off x="5280719" y="2647950"/>
            <a:ext cx="26927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6E254C-5449-28B1-3A4C-AA8675DB5701}"/>
              </a:ext>
            </a:extLst>
          </p:cNvPr>
          <p:cNvSpPr/>
          <p:nvPr/>
        </p:nvSpPr>
        <p:spPr>
          <a:xfrm>
            <a:off x="7973466" y="2647950"/>
            <a:ext cx="3647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2CEC0A-E379-E777-B5C6-380D5EAB547B}"/>
              </a:ext>
            </a:extLst>
          </p:cNvPr>
          <p:cNvSpPr/>
          <p:nvPr/>
        </p:nvSpPr>
        <p:spPr>
          <a:xfrm>
            <a:off x="571500" y="3219450"/>
            <a:ext cx="2245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4517BA-38FC-D1BB-AFA5-84DF42E104DB}"/>
              </a:ext>
            </a:extLst>
          </p:cNvPr>
          <p:cNvSpPr/>
          <p:nvPr/>
        </p:nvSpPr>
        <p:spPr>
          <a:xfrm>
            <a:off x="2817465" y="3219450"/>
            <a:ext cx="2463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FDC2B4-ACAC-5883-F74F-8B6AC4DFF0BE}"/>
              </a:ext>
            </a:extLst>
          </p:cNvPr>
          <p:cNvSpPr/>
          <p:nvPr/>
        </p:nvSpPr>
        <p:spPr>
          <a:xfrm>
            <a:off x="5280719" y="3219450"/>
            <a:ext cx="26927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75E516-242F-C6F9-B7E6-D1BDF8DB9AAF}"/>
              </a:ext>
            </a:extLst>
          </p:cNvPr>
          <p:cNvSpPr/>
          <p:nvPr/>
        </p:nvSpPr>
        <p:spPr>
          <a:xfrm>
            <a:off x="7973466" y="3219450"/>
            <a:ext cx="3647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8BEDCC-F6A3-3665-2AAE-A5230B8F4BB8}"/>
              </a:ext>
            </a:extLst>
          </p:cNvPr>
          <p:cNvSpPr/>
          <p:nvPr/>
        </p:nvSpPr>
        <p:spPr>
          <a:xfrm>
            <a:off x="571500" y="3790950"/>
            <a:ext cx="2245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08A22E-2664-0671-3B2F-7CA5B475EB74}"/>
              </a:ext>
            </a:extLst>
          </p:cNvPr>
          <p:cNvSpPr/>
          <p:nvPr/>
        </p:nvSpPr>
        <p:spPr>
          <a:xfrm>
            <a:off x="2817465" y="3790950"/>
            <a:ext cx="2463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A00FCF-6F50-DEFB-0102-6C779F0E7BB6}"/>
              </a:ext>
            </a:extLst>
          </p:cNvPr>
          <p:cNvSpPr/>
          <p:nvPr/>
        </p:nvSpPr>
        <p:spPr>
          <a:xfrm>
            <a:off x="5280719" y="3790950"/>
            <a:ext cx="26927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5F5C54-F795-5D49-5159-213A7A43BD0C}"/>
              </a:ext>
            </a:extLst>
          </p:cNvPr>
          <p:cNvSpPr/>
          <p:nvPr/>
        </p:nvSpPr>
        <p:spPr>
          <a:xfrm>
            <a:off x="7973466" y="3790950"/>
            <a:ext cx="3647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67B3D3-BC0A-83F7-862E-AF2D71FDA81B}"/>
              </a:ext>
            </a:extLst>
          </p:cNvPr>
          <p:cNvSpPr/>
          <p:nvPr/>
        </p:nvSpPr>
        <p:spPr>
          <a:xfrm>
            <a:off x="571500" y="4362450"/>
            <a:ext cx="2245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44BA3C-3D54-0E25-DE2D-48AB23637E14}"/>
              </a:ext>
            </a:extLst>
          </p:cNvPr>
          <p:cNvSpPr/>
          <p:nvPr/>
        </p:nvSpPr>
        <p:spPr>
          <a:xfrm>
            <a:off x="2817465" y="4362450"/>
            <a:ext cx="2463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C7335D-A540-A3AB-4DCB-1A0B8C351E19}"/>
              </a:ext>
            </a:extLst>
          </p:cNvPr>
          <p:cNvSpPr/>
          <p:nvPr/>
        </p:nvSpPr>
        <p:spPr>
          <a:xfrm>
            <a:off x="5280719" y="4362450"/>
            <a:ext cx="26927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D18DA67-805A-2E3B-7CA1-5B752CC942E2}"/>
              </a:ext>
            </a:extLst>
          </p:cNvPr>
          <p:cNvSpPr/>
          <p:nvPr/>
        </p:nvSpPr>
        <p:spPr>
          <a:xfrm>
            <a:off x="7973466" y="4362450"/>
            <a:ext cx="3647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72FEC6-71FB-FAD3-7C0B-1F7B414C24D7}"/>
              </a:ext>
            </a:extLst>
          </p:cNvPr>
          <p:cNvSpPr/>
          <p:nvPr/>
        </p:nvSpPr>
        <p:spPr>
          <a:xfrm>
            <a:off x="571500" y="4933950"/>
            <a:ext cx="2245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18A4F0-B32C-BC72-5B85-8A527FBD7A32}"/>
              </a:ext>
            </a:extLst>
          </p:cNvPr>
          <p:cNvSpPr/>
          <p:nvPr/>
        </p:nvSpPr>
        <p:spPr>
          <a:xfrm>
            <a:off x="2817465" y="4933950"/>
            <a:ext cx="2463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B1DA53A-EEE7-7A2D-BA80-A9435B127ED0}"/>
              </a:ext>
            </a:extLst>
          </p:cNvPr>
          <p:cNvSpPr/>
          <p:nvPr/>
        </p:nvSpPr>
        <p:spPr>
          <a:xfrm>
            <a:off x="5280719" y="4933950"/>
            <a:ext cx="26927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86DC-E00F-7B0B-CE05-9DAAEEF52C54}"/>
              </a:ext>
            </a:extLst>
          </p:cNvPr>
          <p:cNvSpPr/>
          <p:nvPr/>
        </p:nvSpPr>
        <p:spPr>
          <a:xfrm>
            <a:off x="7973466" y="4933950"/>
            <a:ext cx="3647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47AC28-08DA-C8E0-54E3-51F2BEC7EBCD}"/>
              </a:ext>
            </a:extLst>
          </p:cNvPr>
          <p:cNvSpPr/>
          <p:nvPr/>
        </p:nvSpPr>
        <p:spPr>
          <a:xfrm>
            <a:off x="571500" y="5505450"/>
            <a:ext cx="2245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064990A-2520-AC22-EF69-468DF6DE5284}"/>
              </a:ext>
            </a:extLst>
          </p:cNvPr>
          <p:cNvSpPr/>
          <p:nvPr/>
        </p:nvSpPr>
        <p:spPr>
          <a:xfrm>
            <a:off x="2817465" y="5505450"/>
            <a:ext cx="24632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8B828A-09A6-F604-7163-D73D62AC0F4B}"/>
              </a:ext>
            </a:extLst>
          </p:cNvPr>
          <p:cNvSpPr/>
          <p:nvPr/>
        </p:nvSpPr>
        <p:spPr>
          <a:xfrm>
            <a:off x="5280719" y="5505450"/>
            <a:ext cx="26927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03E527E-4928-2E54-1927-634446AD358D}"/>
              </a:ext>
            </a:extLst>
          </p:cNvPr>
          <p:cNvSpPr/>
          <p:nvPr/>
        </p:nvSpPr>
        <p:spPr>
          <a:xfrm>
            <a:off x="7973466" y="5505450"/>
            <a:ext cx="36470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E7D115-EE2E-358A-42CD-288D5271968B}"/>
              </a:ext>
            </a:extLst>
          </p:cNvPr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Outlet Location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3989562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STORYTELLING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Visuals &amp; What They Reveal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F222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842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517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mix vs. Returns — which product lines get sent back most.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17830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F2226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011680"/>
            <a:ext cx="502920" cy="50292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19842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6517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by Category &amp; Payment Mode — where refund friction is highest.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0" y="17830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F2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7909560" y="2011680"/>
            <a:ext cx="502920" cy="50292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095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19842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Chart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6517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across Product Names, line + column together.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22192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F2226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050792"/>
            <a:ext cx="502920" cy="50292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69087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Returns by Region over time.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0" y="3822192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1F2226"/>
          </a:solidFill>
          <a:ln/>
        </p:spPr>
      </p:sp>
      <p:sp>
        <p:nvSpPr>
          <p:cNvPr id="26" name="Shape 24"/>
          <p:cNvSpPr/>
          <p:nvPr/>
        </p:nvSpPr>
        <p:spPr>
          <a:xfrm>
            <a:off x="4343400" y="4050792"/>
            <a:ext cx="502920" cy="50292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4340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983480" y="4023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Chart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343400" y="469087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broken down by Payment Mode, from highest to lowest.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0FF6FC8E-17B7-6C19-3C1C-4C6B084E5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28725"/>
            <a:ext cx="11049000" cy="5153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E22982-076A-A419-6256-71AA3CE223F2}"/>
              </a:ext>
            </a:extLst>
          </p:cNvPr>
          <p:cNvSpPr txBox="1"/>
          <p:nvPr/>
        </p:nvSpPr>
        <p:spPr>
          <a:xfrm>
            <a:off x="571500" y="4519612"/>
            <a:ext cx="11049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1" u="none">
                <a:solidFill>
                  <a:srgbClr val="334155"/>
                </a:solidFill>
                <a:latin typeface="Inter"/>
              </a:rPr>
              <a:t>Cash on Delivery (COD) accounts for the largest share at $114.24K, while digital payment methods (Online + Cards) combined represent over 57.6% ($155.52K) of total revenue.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C1CA6-83CB-E6B2-8B81-7583A8725721}"/>
              </a:ext>
            </a:extLst>
          </p:cNvPr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0F172A"/>
                </a:solidFill>
                <a:latin typeface="Poppins SemiBold"/>
              </a:rPr>
              <a:t>Sales by Payment Mode</a:t>
            </a:r>
          </a:p>
        </p:txBody>
      </p:sp>
    </p:spTree>
    <p:extLst>
      <p:ext uri="{BB962C8B-B14F-4D97-AF65-F5344CB8AC3E}">
        <p14:creationId xmlns:p14="http://schemas.microsoft.com/office/powerpoint/2010/main" val="1505211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Explored, Not Just Viewed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1F222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84248"/>
            <a:ext cx="548640" cy="54864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84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8928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Slicer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24028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the whole page by Ship-Date quarter using the built-in date hierarchy.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24272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099816"/>
            <a:ext cx="548640" cy="54864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0998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0083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Slicer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355848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viewers swap which measure the visuals respond to.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14216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1F2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215384"/>
            <a:ext cx="548640" cy="54864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215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1239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Panel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471416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panel groups all slicers so filtering feels intentional, not scattered.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29784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24272C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5330952"/>
            <a:ext cx="548640" cy="54864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330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2395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Back Navigation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5586984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nav buttons give the single page an app-like, multi-screen feel.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8E0D4A10-B273-5797-6B6B-97990FECA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095625"/>
            <a:ext cx="5286375" cy="1095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1076D1-BF81-8F4C-679F-52D3FC6F73B1}"/>
              </a:ext>
            </a:extLst>
          </p:cNvPr>
          <p:cNvSpPr txBox="1"/>
          <p:nvPr/>
        </p:nvSpPr>
        <p:spPr>
          <a:xfrm>
            <a:off x="571500" y="4267200"/>
            <a:ext cx="52863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0F172A"/>
                </a:solidFill>
                <a:latin typeface="Inter SemiBold"/>
              </a:rPr>
              <a:t>Total Revenue Generated ($)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D976A-6A0D-D2C1-0ADA-72C01F5D2055}"/>
              </a:ext>
            </a:extLst>
          </p:cNvPr>
          <p:cNvSpPr txBox="1"/>
          <p:nvPr/>
        </p:nvSpPr>
        <p:spPr>
          <a:xfrm>
            <a:off x="6334125" y="3224212"/>
            <a:ext cx="55506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Core Financial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FED918-7284-B619-BE51-1B8A253FC1AB}"/>
              </a:ext>
            </a:extLst>
          </p:cNvPr>
          <p:cNvSpPr txBox="1"/>
          <p:nvPr/>
        </p:nvSpPr>
        <p:spPr>
          <a:xfrm>
            <a:off x="6334125" y="3500437"/>
            <a:ext cx="52863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The dashboard evaluates 33.99K total item units sold across all outlet types, achieving an average transaction value of 5.32K with strong customer ratings across major regional outlets.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ADBFCF-DE29-2DA3-1E61-9BC64FD90A90}"/>
              </a:ext>
            </a:extLst>
          </p:cNvPr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0F172A"/>
                </a:solidFill>
                <a:latin typeface="Poppins SemiBold"/>
              </a:rPr>
              <a:t>Total Sales Revenue Metric</a:t>
            </a:r>
          </a:p>
        </p:txBody>
      </p:sp>
    </p:spTree>
    <p:extLst>
      <p:ext uri="{BB962C8B-B14F-4D97-AF65-F5344CB8AC3E}">
        <p14:creationId xmlns:p14="http://schemas.microsoft.com/office/powerpoint/2010/main" val="1587891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Applied Across the Project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F222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modeling, DAX measures, and the full interactive report canvas.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18288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F2226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2103120"/>
            <a:ext cx="594360" cy="59436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8912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834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2004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cleaning, validation and quick sanity checks.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18288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F2226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2103120"/>
            <a:ext cx="594360" cy="59436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283464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2004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and querying the underlying sales records.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F2226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480560"/>
            <a:ext cx="594360" cy="59436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480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2120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5778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exploration to spot trends before visualizing them.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0" y="42062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F2226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0" y="4480560"/>
            <a:ext cx="594360" cy="59436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89120" y="4480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52120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389120" y="557784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repetitive parts of the data workflow.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D3ADDDF6-F811-5C44-A100-171BF1C33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76487"/>
            <a:ext cx="3530649" cy="28575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9026E7C1-1E10-619A-9BDE-D7FF856D5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49" y="2376487"/>
            <a:ext cx="3530649" cy="28575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BC3C70CD-EA35-1FC2-0085-2290A9D3D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999" y="2376487"/>
            <a:ext cx="3530649" cy="2857500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2C65DD4E-63B1-4319-1CBD-897C6E9ED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90812"/>
            <a:ext cx="495300" cy="495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8C2B56-140D-7E46-0B8F-9147CBF3771A}"/>
              </a:ext>
            </a:extLst>
          </p:cNvPr>
          <p:cNvSpPr txBox="1"/>
          <p:nvPr/>
        </p:nvSpPr>
        <p:spPr>
          <a:xfrm>
            <a:off x="885825" y="3376612"/>
            <a:ext cx="156019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Regional Peaks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359A60-7811-6880-5D1E-043402763392}"/>
              </a:ext>
            </a:extLst>
          </p:cNvPr>
          <p:cNvSpPr txBox="1"/>
          <p:nvPr/>
        </p:nvSpPr>
        <p:spPr>
          <a:xfrm>
            <a:off x="885825" y="3776662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West 0 and Central 0 outlets recorded peak sales performance reaching 78K each, outperforming South and East zones.</a:t>
            </a: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F60F97CB-40BE-3A17-E94B-4A63F2673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074" y="2690812"/>
            <a:ext cx="495300" cy="4953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CB1F25-3294-83BF-CB8F-87184AA898B8}"/>
              </a:ext>
            </a:extLst>
          </p:cNvPr>
          <p:cNvSpPr txBox="1"/>
          <p:nvPr/>
        </p:nvSpPr>
        <p:spPr>
          <a:xfrm>
            <a:off x="4645074" y="3376612"/>
            <a:ext cx="192024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Category Demand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D77F4F-4021-A6B5-1ECC-4B049CAF8D33}"/>
              </a:ext>
            </a:extLst>
          </p:cNvPr>
          <p:cNvSpPr txBox="1"/>
          <p:nvPr/>
        </p:nvSpPr>
        <p:spPr>
          <a:xfrm>
            <a:off x="4645074" y="3776662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Office Supplies led category item counts (516 units), followed by Technology (180 units) and Furniture (178 units).</a:t>
            </a: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81225D65-B1FA-B556-9D90-ABD6132CD9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4324" y="2690812"/>
            <a:ext cx="495300" cy="4953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B6FFCE9-8538-7859-BB3C-9D1FBA571E7C}"/>
              </a:ext>
            </a:extLst>
          </p:cNvPr>
          <p:cNvSpPr txBox="1"/>
          <p:nvPr/>
        </p:nvSpPr>
        <p:spPr>
          <a:xfrm>
            <a:off x="8404324" y="3376612"/>
            <a:ext cx="22102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Payment Preferences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700AC5-CD3F-2188-733B-031236A1859B}"/>
              </a:ext>
            </a:extLst>
          </p:cNvPr>
          <p:cNvSpPr txBox="1"/>
          <p:nvPr/>
        </p:nvSpPr>
        <p:spPr>
          <a:xfrm>
            <a:off x="8404324" y="3776662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High-value orders favor Online &amp; Card payments, while quick daily consumable purchases show higher reliance on COD.</a:t>
            </a:r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3E37C91E-E8B0-757C-D31F-94080A8472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750" y="2824162"/>
            <a:ext cx="171450" cy="22860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31A1E41E-81A0-5981-9F5D-1B5A94DC80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4137" y="2824162"/>
            <a:ext cx="257175" cy="22860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D288EBC2-1380-A7DD-0F23-72B2F9061C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7674" y="2824162"/>
            <a:ext cx="228600" cy="2286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99931C6-AE4D-D55A-8B08-62C8642E0706}"/>
              </a:ext>
            </a:extLst>
          </p:cNvPr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oppins SemiBold"/>
              </a:rPr>
              <a:t>Key Dashboard Insights</a:t>
            </a:r>
          </a:p>
        </p:txBody>
      </p:sp>
    </p:spTree>
    <p:extLst>
      <p:ext uri="{BB962C8B-B14F-4D97-AF65-F5344CB8AC3E}">
        <p14:creationId xmlns:p14="http://schemas.microsoft.com/office/powerpoint/2010/main" val="115927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from This Project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7830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raw sales records into a clear KPI story for a non-technical viewer.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346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chart per question — donut for mix, funnel for drop-off, combo for trend.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886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slicers and navigation so the dashboard feels like a small app.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9377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Excel, SQL and Power BI into one clean end-to-end workflow.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6080760"/>
            <a:ext cx="1078992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217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extend the model with cohort-level and time-series forecasting.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7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3977640"/>
            <a:ext cx="4206240" cy="0"/>
          </a:xfrm>
          <a:prstGeom prst="line">
            <a:avLst/>
          </a:prstGeom>
          <a:noFill/>
          <a:ln w="12700">
            <a:solidFill>
              <a:srgbClr val="3A3D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Mishra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Engineering  ·  Roll No. 2403600109007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7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Goel Institute of Technology &amp; Management, Lucknow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5212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  |  Python  |  Time Series Analysis  |  Workflow Automation (n8n)  |  SQL  |  Excel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1053</Words>
  <Application>Microsoft Office PowerPoint</Application>
  <PresentationFormat>Widescreen</PresentationFormat>
  <Paragraphs>215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ATUL MISHRA</cp:lastModifiedBy>
  <cp:revision>2</cp:revision>
  <dcterms:created xsi:type="dcterms:W3CDTF">2026-09-09T03:42:51Z</dcterms:created>
  <dcterms:modified xsi:type="dcterms:W3CDTF">2026-10-12T07:29:49Z</dcterms:modified>
</cp:coreProperties>
</file>